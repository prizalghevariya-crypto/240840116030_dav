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4" r:id="rId6"/>
    <p:sldId id="261" r:id="rId7"/>
    <p:sldId id="262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E58089-A37D-4D99-9010-AC3E41CFA5A1}" v="15" dt="2026-10-12T09:39:53.5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ka Gediya" userId="341f3ccd16591b61" providerId="LiveId" clId="{BC20111E-E115-418D-B70E-E639547DB541}"/>
    <pc:docChg chg="undo custSel addSld delSld modSld">
      <pc:chgData name="Priyanka Gediya" userId="341f3ccd16591b61" providerId="LiveId" clId="{BC20111E-E115-418D-B70E-E639547DB541}" dt="2026-10-12T09:39:57.508" v="50" actId="1076"/>
      <pc:docMkLst>
        <pc:docMk/>
      </pc:docMkLst>
      <pc:sldChg chg="addSp delSp modSp mod">
        <pc:chgData name="Priyanka Gediya" userId="341f3ccd16591b61" providerId="LiveId" clId="{BC20111E-E115-418D-B70E-E639547DB541}" dt="2026-10-12T09:34:12.989" v="21" actId="12"/>
        <pc:sldMkLst>
          <pc:docMk/>
          <pc:sldMk cId="0" sldId="261"/>
        </pc:sldMkLst>
        <pc:spChg chg="mod">
          <ac:chgData name="Priyanka Gediya" userId="341f3ccd16591b61" providerId="LiveId" clId="{BC20111E-E115-418D-B70E-E639547DB541}" dt="2026-10-12T09:34:12.989" v="21" actId="12"/>
          <ac:spMkLst>
            <pc:docMk/>
            <pc:sldMk cId="0" sldId="261"/>
            <ac:spMk id="6" creationId="{00000000-0000-0000-0000-000000000000}"/>
          </ac:spMkLst>
        </pc:spChg>
        <pc:spChg chg="add del mod">
          <ac:chgData name="Priyanka Gediya" userId="341f3ccd16591b61" providerId="LiveId" clId="{BC20111E-E115-418D-B70E-E639547DB541}" dt="2026-10-12T09:34:07.493" v="20" actId="12"/>
          <ac:spMkLst>
            <pc:docMk/>
            <pc:sldMk cId="0" sldId="261"/>
            <ac:spMk id="9" creationId="{00000000-0000-0000-0000-000000000000}"/>
          </ac:spMkLst>
        </pc:spChg>
        <pc:spChg chg="del">
          <ac:chgData name="Priyanka Gediya" userId="341f3ccd16591b61" providerId="LiveId" clId="{BC20111E-E115-418D-B70E-E639547DB541}" dt="2026-10-12T09:33:58.869" v="19" actId="478"/>
          <ac:spMkLst>
            <pc:docMk/>
            <pc:sldMk cId="0" sldId="261"/>
            <ac:spMk id="10" creationId="{00000000-0000-0000-0000-000000000000}"/>
          </ac:spMkLst>
        </pc:spChg>
      </pc:sldChg>
      <pc:sldChg chg="modSp add del mod">
        <pc:chgData name="Priyanka Gediya" userId="341f3ccd16591b61" providerId="LiveId" clId="{BC20111E-E115-418D-B70E-E639547DB541}" dt="2026-10-12T09:39:57.508" v="50" actId="1076"/>
        <pc:sldMkLst>
          <pc:docMk/>
          <pc:sldMk cId="0" sldId="262"/>
        </pc:sldMkLst>
        <pc:spChg chg="mod">
          <ac:chgData name="Priyanka Gediya" userId="341f3ccd16591b61" providerId="LiveId" clId="{BC20111E-E115-418D-B70E-E639547DB541}" dt="2026-10-12T09:37:42.180" v="28" actId="14100"/>
          <ac:spMkLst>
            <pc:docMk/>
            <pc:sldMk cId="0" sldId="262"/>
            <ac:spMk id="7" creationId="{00000000-0000-0000-0000-000000000000}"/>
          </ac:spMkLst>
        </pc:spChg>
        <pc:spChg chg="mod">
          <ac:chgData name="Priyanka Gediya" userId="341f3ccd16591b61" providerId="LiveId" clId="{BC20111E-E115-418D-B70E-E639547DB541}" dt="2026-10-12T09:37:54.896" v="30"/>
          <ac:spMkLst>
            <pc:docMk/>
            <pc:sldMk cId="0" sldId="262"/>
            <ac:spMk id="8" creationId="{00000000-0000-0000-0000-000000000000}"/>
          </ac:spMkLst>
        </pc:spChg>
        <pc:spChg chg="mod">
          <ac:chgData name="Priyanka Gediya" userId="341f3ccd16591b61" providerId="LiveId" clId="{BC20111E-E115-418D-B70E-E639547DB541}" dt="2026-10-12T09:38:07.332" v="32"/>
          <ac:spMkLst>
            <pc:docMk/>
            <pc:sldMk cId="0" sldId="262"/>
            <ac:spMk id="11" creationId="{00000000-0000-0000-0000-000000000000}"/>
          </ac:spMkLst>
        </pc:spChg>
        <pc:spChg chg="mod">
          <ac:chgData name="Priyanka Gediya" userId="341f3ccd16591b61" providerId="LiveId" clId="{BC20111E-E115-418D-B70E-E639547DB541}" dt="2026-10-12T09:38:25.229" v="34"/>
          <ac:spMkLst>
            <pc:docMk/>
            <pc:sldMk cId="0" sldId="262"/>
            <ac:spMk id="12" creationId="{00000000-0000-0000-0000-000000000000}"/>
          </ac:spMkLst>
        </pc:spChg>
        <pc:spChg chg="mod">
          <ac:chgData name="Priyanka Gediya" userId="341f3ccd16591b61" providerId="LiveId" clId="{BC20111E-E115-418D-B70E-E639547DB541}" dt="2026-10-12T09:38:36.237" v="3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Priyanka Gediya" userId="341f3ccd16591b61" providerId="LiveId" clId="{BC20111E-E115-418D-B70E-E639547DB541}" dt="2026-10-12T09:38:51.665" v="38"/>
          <ac:spMkLst>
            <pc:docMk/>
            <pc:sldMk cId="0" sldId="262"/>
            <ac:spMk id="16" creationId="{00000000-0000-0000-0000-000000000000}"/>
          </ac:spMkLst>
        </pc:spChg>
        <pc:spChg chg="mod">
          <ac:chgData name="Priyanka Gediya" userId="341f3ccd16591b61" providerId="LiveId" clId="{BC20111E-E115-418D-B70E-E639547DB541}" dt="2026-10-12T09:39:02.020" v="40"/>
          <ac:spMkLst>
            <pc:docMk/>
            <pc:sldMk cId="0" sldId="262"/>
            <ac:spMk id="19" creationId="{00000000-0000-0000-0000-000000000000}"/>
          </ac:spMkLst>
        </pc:spChg>
        <pc:spChg chg="mod">
          <ac:chgData name="Priyanka Gediya" userId="341f3ccd16591b61" providerId="LiveId" clId="{BC20111E-E115-418D-B70E-E639547DB541}" dt="2026-10-12T09:39:11.301" v="42"/>
          <ac:spMkLst>
            <pc:docMk/>
            <pc:sldMk cId="0" sldId="262"/>
            <ac:spMk id="20" creationId="{00000000-0000-0000-0000-000000000000}"/>
          </ac:spMkLst>
        </pc:spChg>
        <pc:spChg chg="mod">
          <ac:chgData name="Priyanka Gediya" userId="341f3ccd16591b61" providerId="LiveId" clId="{BC20111E-E115-418D-B70E-E639547DB541}" dt="2026-10-12T09:39:21.008" v="44"/>
          <ac:spMkLst>
            <pc:docMk/>
            <pc:sldMk cId="0" sldId="262"/>
            <ac:spMk id="23" creationId="{00000000-0000-0000-0000-000000000000}"/>
          </ac:spMkLst>
        </pc:spChg>
        <pc:spChg chg="mod">
          <ac:chgData name="Priyanka Gediya" userId="341f3ccd16591b61" providerId="LiveId" clId="{BC20111E-E115-418D-B70E-E639547DB541}" dt="2026-10-12T09:39:39.504" v="47"/>
          <ac:spMkLst>
            <pc:docMk/>
            <pc:sldMk cId="0" sldId="262"/>
            <ac:spMk id="24" creationId="{00000000-0000-0000-0000-000000000000}"/>
          </ac:spMkLst>
        </pc:spChg>
        <pc:spChg chg="mod">
          <ac:chgData name="Priyanka Gediya" userId="341f3ccd16591b61" providerId="LiveId" clId="{BC20111E-E115-418D-B70E-E639547DB541}" dt="2026-10-12T09:39:57.508" v="50" actId="1076"/>
          <ac:spMkLst>
            <pc:docMk/>
            <pc:sldMk cId="0" sldId="262"/>
            <ac:spMk id="25" creationId="{00000000-0000-0000-0000-000000000000}"/>
          </ac:spMkLst>
        </pc:spChg>
      </pc:sldChg>
      <pc:sldChg chg="modSp mod">
        <pc:chgData name="Priyanka Gediya" userId="341f3ccd16591b61" providerId="LiveId" clId="{BC20111E-E115-418D-B70E-E639547DB541}" dt="2026-10-12T09:26:17.862" v="10" actId="1076"/>
        <pc:sldMkLst>
          <pc:docMk/>
          <pc:sldMk cId="2636224184" sldId="264"/>
        </pc:sldMkLst>
        <pc:spChg chg="mod">
          <ac:chgData name="Priyanka Gediya" userId="341f3ccd16591b61" providerId="LiveId" clId="{BC20111E-E115-418D-B70E-E639547DB541}" dt="2026-10-12T09:26:06.439" v="9" actId="1076"/>
          <ac:spMkLst>
            <pc:docMk/>
            <pc:sldMk cId="2636224184" sldId="264"/>
            <ac:spMk id="2" creationId="{2957CE38-07DF-A221-CC4A-512B0B87C99E}"/>
          </ac:spMkLst>
        </pc:spChg>
        <pc:picChg chg="mod">
          <ac:chgData name="Priyanka Gediya" userId="341f3ccd16591b61" providerId="LiveId" clId="{BC20111E-E115-418D-B70E-E639547DB541}" dt="2026-10-12T09:26:17.862" v="10" actId="1076"/>
          <ac:picMkLst>
            <pc:docMk/>
            <pc:sldMk cId="2636224184" sldId="264"/>
            <ac:picMk id="26" creationId="{89C0540C-095F-E157-88A1-98DE13DB4EB2}"/>
          </ac:picMkLst>
        </pc:picChg>
      </pc:sldChg>
      <pc:sldChg chg="modSp mod">
        <pc:chgData name="Priyanka Gediya" userId="341f3ccd16591b61" providerId="LiveId" clId="{BC20111E-E115-418D-B70E-E639547DB541}" dt="2026-10-12T09:24:52.837" v="8" actId="14100"/>
        <pc:sldMkLst>
          <pc:docMk/>
          <pc:sldMk cId="1866562851" sldId="265"/>
        </pc:sldMkLst>
        <pc:spChg chg="mod">
          <ac:chgData name="Priyanka Gediya" userId="341f3ccd16591b61" providerId="LiveId" clId="{BC20111E-E115-418D-B70E-E639547DB541}" dt="2026-10-12T09:24:52.837" v="8" actId="14100"/>
          <ac:spMkLst>
            <pc:docMk/>
            <pc:sldMk cId="1866562851" sldId="265"/>
            <ac:spMk id="14" creationId="{69B3335C-DD83-98CD-A36F-909778EF905C}"/>
          </ac:spMkLst>
        </pc:spChg>
      </pc:sldChg>
      <pc:sldChg chg="new del">
        <pc:chgData name="Priyanka Gediya" userId="341f3ccd16591b61" providerId="LiveId" clId="{BC20111E-E115-418D-B70E-E639547DB541}" dt="2026-10-12T09:24:00.598" v="1" actId="47"/>
        <pc:sldMkLst>
          <pc:docMk/>
          <pc:sldMk cId="753717434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5AC3E-7F09-00C1-C294-E6EF760EA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7E0A63-6C69-01AD-207B-4EDE7A62F3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C034E-38FD-1189-0E4E-6588FD2CC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9B6D2-AD93-55C5-031E-93D30D088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C183D-7881-6205-E754-180C71663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450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D4883-7777-49B9-954C-E64AE074C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C73DF-8EAC-A944-EAA8-FF0D526E9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C0F53-2538-4382-8CDB-EA615619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BF789-C06B-D04F-F40D-E8EAB1C69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5C380-D13C-7C11-1857-77D82F54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947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01B60-2AF1-F3E8-306F-0335B1EB5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CD22F-BAE1-2958-8441-92B94D148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C71C5-F0C7-3297-1230-8CDE7A8A2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B4271-1FF3-B749-BB9F-3010A3D2A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04290-DB69-B5AB-D883-3975977B2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13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4C286-D9E4-2D6D-6CB0-79AEFDA3C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A9EF0-2867-CC02-1F87-8867479D6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8A54C-307A-849D-3625-204AF4D80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6C8F3-C9CC-79A2-EB1E-DCDB113B5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D8700-E601-A6FC-27B9-41847D148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252E2-B8E8-84D9-82DF-DCF9EEACF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168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29E4E-C9EE-41B8-C298-F8ACA9126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FAE95-06E9-1A5F-2CF4-B7E8612C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B8865-293B-BDB0-9C95-76B43FACE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8BB149-1DA2-7664-B604-0CD80E2E4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EEF709-158C-71DC-A548-4413F98D64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7FC9A7-509F-8FB5-2A37-B24A4DE3F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09C7A1-4C31-8FBC-C280-B545A2770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C200AB-AEC8-BD93-0FD1-203D87239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48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3E8E4-132C-97BB-C91B-8DD095685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89CD81-6762-F018-8198-937551C0A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38C6C-4E87-0FE3-F546-1A07B7C60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1F1268-A2AC-B603-F0B2-CD7C3D432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38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16CC71-B3AA-7919-1FB7-F77A43540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238C5D-F553-1A04-9854-CD2F2585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72774-8F6F-0041-E5BF-F8179823C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51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7BF55-4FFC-8921-2DE0-6A1BBDEB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34A44-8801-D03E-ABFF-E5A8102E3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68D5E-C010-B88E-17CF-BD8CEDE63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FF92A-01BD-0BEE-A375-F1AC75FE9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24DBD-C3FC-A5F6-FD3D-8D0228878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ABCCA-5984-2A8B-2CB9-C056AA6C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95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1678A-8EC0-06F8-FCF0-F65792317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279D69-1F2E-3AAA-815B-FD40D1D88F1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FD399-AA18-BEE0-F354-A65A763DC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EA382-6741-FC61-2A2C-F93672FC0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6E699-C733-AE59-05B6-260281C6A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296A0-D873-ABF9-75E2-8B0755FA7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557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01BB6-7857-C59E-642D-B6B67ABDF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A9D8A-C188-D504-1075-DFB3571BB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7FB6D-9847-37AF-6A6D-5D67A1FD7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CF77B-B2B0-1313-CBBD-658D54C55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58C41-0ECD-B807-77F4-28B9F0CF0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DC2511-15B9-3835-D7E4-53B71CD81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CB5BCD-AF74-E8C0-EEA9-647251A31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AC303-7D36-15E7-ECFB-582330FBB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E26F6-E6F0-A41F-6909-081DC8F68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D9E64-F6DF-BC74-C946-780FFBDA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21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416AD7-EA09-89B7-26C3-AB8517849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D03F9-228B-2193-A3F4-AEB064B81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7700A-615C-CA23-D5F1-6CBDFBBB9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C1C7E-EF4F-0060-CA3A-ED3066E9D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B52CF-23E5-98F6-F544-B9F0EF728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212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731520"/>
            <a:ext cx="1920240" cy="1920240"/>
          </a:xfrm>
          <a:prstGeom prst="ellipse">
            <a:avLst/>
          </a:prstGeom>
          <a:solidFill>
            <a:srgbClr val="37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2011680"/>
            <a:ext cx="1234440" cy="1234440"/>
          </a:xfrm>
          <a:prstGeom prst="ellipse">
            <a:avLst/>
          </a:prstGeom>
          <a:solidFill>
            <a:srgbClr val="34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03920" y="3017520"/>
            <a:ext cx="731520" cy="731520"/>
          </a:xfrm>
          <a:prstGeom prst="ellipse">
            <a:avLst/>
          </a:prstGeom>
          <a:solidFill>
            <a:srgbClr val="F0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32720" y="3840480"/>
            <a:ext cx="1554480" cy="1554480"/>
          </a:xfrm>
          <a:prstGeom prst="ellipse">
            <a:avLst/>
          </a:prstGeom>
          <a:solidFill>
            <a:srgbClr val="23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4522" y="492080"/>
            <a:ext cx="9993310" cy="28007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400" b="1">
                <a:solidFill>
                  <a:srgbClr val="F8FAFD"/>
                </a:solidFill>
                <a:latin typeface="Aptos"/>
              </a:defRPr>
            </a:pPr>
            <a:r>
              <a:rPr lang="en-US" sz="3600" b="1" dirty="0"/>
              <a:t>Subject Name : </a:t>
            </a:r>
            <a:r>
              <a:rPr lang="en-IN" sz="3600" b="1" dirty="0"/>
              <a:t>DATA ANALYTICS &amp; VISUALIZATION(1IT508)</a:t>
            </a:r>
          </a:p>
          <a:p>
            <a:pPr>
              <a:defRPr sz="3400" b="1">
                <a:solidFill>
                  <a:srgbClr val="F8FAFD"/>
                </a:solidFill>
                <a:latin typeface="Aptos"/>
              </a:defRPr>
            </a:pPr>
            <a:endParaRPr lang="en-IN" sz="3600" b="1" dirty="0"/>
          </a:p>
          <a:p>
            <a:pPr>
              <a:defRPr sz="3400" b="1">
                <a:solidFill>
                  <a:srgbClr val="F8FAFD"/>
                </a:solidFill>
                <a:latin typeface="Aptos"/>
              </a:defRPr>
            </a:pPr>
            <a:r>
              <a:rPr lang="en-IN" dirty="0"/>
              <a:t>VIDEO GAME SALES ANALYSIS</a:t>
            </a:r>
          </a:p>
          <a:p>
            <a:pPr>
              <a:defRPr sz="3400" b="1">
                <a:solidFill>
                  <a:srgbClr val="F8FAFD"/>
                </a:solidFill>
                <a:latin typeface="Aptos"/>
              </a:defRPr>
            </a:pP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747793" y="3017520"/>
            <a:ext cx="1143000" cy="73152"/>
          </a:xfrm>
          <a:prstGeom prst="rect">
            <a:avLst/>
          </a:prstGeom>
          <a:solidFill>
            <a:srgbClr val="34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0017" y="3429000"/>
            <a:ext cx="6858000" cy="1708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Enrollment No: 240840116113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        240840116050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        240840116029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        240840116035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        240840116030</a:t>
            </a:r>
          </a:p>
          <a:p>
            <a:pPr>
              <a:defRPr sz="1500" b="1">
                <a:solidFill>
                  <a:srgbClr val="F8FAFD"/>
                </a:solidFill>
                <a:latin typeface="Aptos"/>
              </a:defRPr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7793" y="5086965"/>
            <a:ext cx="68580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BED2E8"/>
                </a:solidFill>
                <a:latin typeface="Aptos"/>
              </a:defRPr>
            </a:pPr>
            <a:r>
              <a:rPr sz="1600" dirty="0"/>
              <a:t>Competition: INSIGHTVISTA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B4C3D7"/>
                </a:solidFill>
                <a:latin typeface="Aptos"/>
              </a:defRPr>
            </a:pPr>
            <a:r>
              <a:t>INSIGHTVISTA 2026  •  VIDEO GAME SALES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73952"/>
            <a:ext cx="274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B4C3D7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111F36"/>
                </a:solidFill>
                <a:latin typeface="Aptos"/>
              </a:defRPr>
            </a:pPr>
            <a:r>
              <a:t>01  |  Raw Dataset Observation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37082"/>
                </a:solidFill>
                <a:latin typeface="Aptos"/>
              </a:defRPr>
            </a:pPr>
            <a:r>
              <a:t>Dataset profile and initial data-quality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822960" cy="54864"/>
          </a:xfrm>
          <a:prstGeom prst="rect">
            <a:avLst/>
          </a:prstGeom>
          <a:solidFill>
            <a:srgbClr val="34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286000" cy="1051560"/>
          </a:xfrm>
          <a:prstGeom prst="roundRect">
            <a:avLst/>
          </a:prstGeom>
          <a:solidFill>
            <a:srgbClr val="F8FAFD"/>
          </a:solidFill>
          <a:ln>
            <a:solidFill>
              <a:srgbClr val="377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627631"/>
            <a:ext cx="195681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637082"/>
                </a:solidFill>
                <a:latin typeface="Aptos"/>
              </a:defRPr>
            </a:pPr>
            <a:r>
              <a:t>TOTAL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47672"/>
            <a:ext cx="1956816" cy="5394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111F36"/>
                </a:solidFill>
                <a:latin typeface="Aptos"/>
              </a:defRPr>
            </a:pPr>
            <a:r>
              <a:t>16,598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508760"/>
            <a:ext cx="2286000" cy="1051560"/>
          </a:xfrm>
          <a:prstGeom prst="roundRect">
            <a:avLst/>
          </a:prstGeom>
          <a:solidFill>
            <a:srgbClr val="F8FAFD"/>
          </a:solidFill>
          <a:ln>
            <a:solidFill>
              <a:srgbClr val="3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10712" y="1627631"/>
            <a:ext cx="195681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637082"/>
                </a:solidFill>
                <a:latin typeface="Aptos"/>
              </a:defRPr>
            </a:pPr>
            <a:r>
              <a:t>TOTAL COLUMNS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1947672"/>
            <a:ext cx="1956816" cy="5394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111F3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508760"/>
            <a:ext cx="2286000" cy="1051560"/>
          </a:xfrm>
          <a:prstGeom prst="roundRect">
            <a:avLst/>
          </a:prstGeom>
          <a:solidFill>
            <a:srgbClr val="F8FAFD"/>
          </a:solidFill>
          <a:ln>
            <a:solidFill>
              <a:srgbClr val="F09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25312" y="1627631"/>
            <a:ext cx="195681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637082"/>
                </a:solidFill>
                <a:latin typeface="Aptos"/>
              </a:defRPr>
            </a:pPr>
            <a:r>
              <a:t>MISSING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1947672"/>
            <a:ext cx="1956816" cy="5394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111F36"/>
                </a:solidFill>
                <a:latin typeface="Aptos"/>
              </a:defRPr>
            </a:pPr>
            <a:r>
              <a:t>271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508760"/>
            <a:ext cx="2651760" cy="1051560"/>
          </a:xfrm>
          <a:prstGeom prst="roundRect">
            <a:avLst/>
          </a:prstGeom>
          <a:solidFill>
            <a:srgbClr val="F8FAFD"/>
          </a:solidFill>
          <a:ln>
            <a:solidFill>
              <a:srgbClr val="2A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2" y="1627631"/>
            <a:ext cx="23225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637082"/>
                </a:solidFill>
                <a:latin typeface="Aptos"/>
              </a:defRPr>
            </a:pPr>
            <a:r>
              <a:t>MISSING PUBLISHERS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1947672"/>
            <a:ext cx="2322576" cy="5394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111F36"/>
                </a:solidFill>
                <a:latin typeface="Aptos"/>
              </a:defRPr>
            </a:pPr>
            <a:r>
              <a:t>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8036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111F36"/>
                </a:solidFill>
                <a:latin typeface="Aptos"/>
              </a:defRPr>
            </a:pPr>
            <a:r>
              <a:t>Columns in the raw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37560"/>
            <a:ext cx="5029200" cy="1443472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600">
                <a:solidFill>
                  <a:srgbClr val="202B3A"/>
                </a:solidFill>
                <a:latin typeface="Aptos"/>
              </a:defRPr>
            </a:pPr>
            <a:r>
              <a:rPr dirty="0"/>
              <a:t>  Rank, Name, Platform, Year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600">
                <a:solidFill>
                  <a:srgbClr val="202B3A"/>
                </a:solidFill>
                <a:latin typeface="Aptos"/>
              </a:defRPr>
            </a:pPr>
            <a:r>
              <a:rPr dirty="0"/>
              <a:t>  Genre, Publisher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600">
                <a:solidFill>
                  <a:srgbClr val="202B3A"/>
                </a:solidFill>
                <a:latin typeface="Aptos"/>
              </a:defRPr>
            </a:pPr>
            <a:r>
              <a:rPr dirty="0"/>
              <a:t>  </a:t>
            </a:r>
            <a:r>
              <a:rPr dirty="0" err="1"/>
              <a:t>NA_Sales</a:t>
            </a:r>
            <a:r>
              <a:rPr dirty="0"/>
              <a:t>, </a:t>
            </a:r>
            <a:r>
              <a:rPr dirty="0" err="1"/>
              <a:t>EU_Sales</a:t>
            </a:r>
            <a:r>
              <a:rPr dirty="0"/>
              <a:t>, </a:t>
            </a:r>
            <a:r>
              <a:rPr dirty="0" err="1"/>
              <a:t>JP_Sales</a:t>
            </a:r>
            <a:r>
              <a:rPr dirty="0"/>
              <a:t>, </a:t>
            </a:r>
            <a:r>
              <a:rPr dirty="0" err="1"/>
              <a:t>Other_Sales</a:t>
            </a:r>
            <a:endParaRPr dirty="0"/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600">
                <a:solidFill>
                  <a:srgbClr val="202B3A"/>
                </a:solidFill>
                <a:latin typeface="Aptos"/>
              </a:defRPr>
            </a:pPr>
            <a:r>
              <a:rPr dirty="0"/>
              <a:t>  </a:t>
            </a:r>
            <a:r>
              <a:rPr dirty="0" err="1"/>
              <a:t>Global_Sales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6172200" y="288036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111F36"/>
                </a:solidFill>
                <a:latin typeface="Aptos"/>
              </a:defRPr>
            </a:pPr>
            <a:r>
              <a:t>Initial observations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337560"/>
            <a:ext cx="5212080" cy="2310376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600">
                <a:solidFill>
                  <a:srgbClr val="202B3A"/>
                </a:solidFill>
                <a:latin typeface="Aptos"/>
              </a:defRPr>
            </a:pPr>
            <a:r>
              <a:rPr dirty="0"/>
              <a:t>  Year has 271 blank values.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600">
                <a:solidFill>
                  <a:srgbClr val="202B3A"/>
                </a:solidFill>
                <a:latin typeface="Aptos"/>
              </a:defRPr>
            </a:pPr>
            <a:r>
              <a:rPr dirty="0"/>
              <a:t>  Publisher has 58 missing values.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600">
                <a:solidFill>
                  <a:srgbClr val="202B3A"/>
                </a:solidFill>
                <a:latin typeface="Aptos"/>
              </a:defRPr>
            </a:pPr>
            <a:r>
              <a:rPr dirty="0"/>
              <a:t>  No exact duplicate rows were detected.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600">
                <a:solidFill>
                  <a:srgbClr val="202B3A"/>
                </a:solidFill>
                <a:latin typeface="Aptos"/>
              </a:defRPr>
            </a:pPr>
            <a:r>
              <a:rPr dirty="0"/>
              <a:t>  Sales fields are numeric and suitable for aggregation </a:t>
            </a:r>
            <a:r>
              <a:rPr lang="en-US" dirty="0"/>
              <a:t>       </a:t>
            </a:r>
            <a:r>
              <a:rPr dirty="0"/>
              <a:t>after type validation.</a:t>
            </a:r>
            <a:endParaRPr lang="en-US" dirty="0"/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600">
                <a:solidFill>
                  <a:srgbClr val="202B3A"/>
                </a:solidFill>
                <a:latin typeface="Aptos"/>
              </a:defRPr>
            </a:pPr>
            <a:r>
              <a:rPr lang="en-US" dirty="0"/>
              <a:t> </a:t>
            </a:r>
            <a:r>
              <a:rPr lang="en-IN" sz="1600" dirty="0"/>
              <a:t>The dataset covers games released between 1980 and 2020</a:t>
            </a:r>
            <a:endParaRPr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37082"/>
                </a:solidFill>
                <a:latin typeface="Aptos"/>
              </a:defRPr>
            </a:pPr>
            <a:r>
              <a:t>INSIGHTVISTA 2026  •  VIDEO GAME SALES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274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637082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111F36"/>
                </a:solidFill>
                <a:latin typeface="Aptos"/>
              </a:defRPr>
            </a:pPr>
            <a:r>
              <a:t>02  |  Data Cleaning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37082"/>
                </a:solidFill>
                <a:latin typeface="Aptos"/>
              </a:defRPr>
            </a:pPr>
            <a:r>
              <a:t>Power Query steps and observed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822960" cy="54864"/>
          </a:xfrm>
          <a:prstGeom prst="rect">
            <a:avLst/>
          </a:prstGeom>
          <a:solidFill>
            <a:srgbClr val="34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9270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5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D"/>
                          </a:solidFill>
                          <a:latin typeface="Aptos"/>
                        </a:defRPr>
                      </a:pPr>
                      <a:r>
                        <a:t>Step</a:t>
                      </a:r>
                    </a:p>
                  </a:txBody>
                  <a:tcPr marL="109728" marR="73152" marT="73152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D"/>
                          </a:solidFill>
                          <a:latin typeface="Aptos"/>
                        </a:defRPr>
                      </a:pPr>
                      <a:r>
                        <a:t>Action</a:t>
                      </a:r>
                    </a:p>
                  </a:txBody>
                  <a:tcPr marL="109728" marR="73152" marT="73152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D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 marL="109728" marR="73152" marT="73152">
                    <a:solidFill>
                      <a:srgbClr val="11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109728" marR="73152" marT="73152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A"/>
                          </a:solidFill>
                          <a:latin typeface="Aptos"/>
                        </a:defRPr>
                      </a:pPr>
                      <a:r>
                        <a:t>Checked data types</a:t>
                      </a:r>
                    </a:p>
                  </a:txBody>
                  <a:tcPr marL="109728" marR="73152" marT="73152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A"/>
                          </a:solidFill>
                          <a:latin typeface="Aptos"/>
                        </a:defRPr>
                      </a:pPr>
                      <a:r>
                        <a:rPr dirty="0"/>
                        <a:t>Rank and Year as Whole Number; sales fields as Decimal Number</a:t>
                      </a:r>
                    </a:p>
                  </a:txBody>
                  <a:tcPr marL="109728" marR="73152" marT="73152"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109728" marR="73152" marT="73152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A"/>
                          </a:solidFill>
                          <a:latin typeface="Aptos"/>
                        </a:defRPr>
                      </a:pPr>
                      <a:r>
                        <a:t>Handled missing Publisher</a:t>
                      </a:r>
                    </a:p>
                  </a:txBody>
                  <a:tcPr marL="109728" marR="73152" marT="73152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A"/>
                          </a:solidFill>
                          <a:latin typeface="Aptos"/>
                        </a:defRPr>
                      </a:pPr>
                      <a:r>
                        <a:t>58 missing values replaced with “Unknown”</a:t>
                      </a:r>
                    </a:p>
                  </a:txBody>
                  <a:tcPr marL="109728" marR="73152" marT="73152"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A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109728" marR="73152" marT="73152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A"/>
                          </a:solidFill>
                          <a:latin typeface="Aptos"/>
                        </a:defRPr>
                      </a:pPr>
                      <a:r>
                        <a:t>Handled missing Year</a:t>
                      </a:r>
                    </a:p>
                  </a:txBody>
                  <a:tcPr marL="109728" marR="73152" marT="73152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A"/>
                          </a:solidFill>
                          <a:latin typeface="Aptos"/>
                        </a:defRPr>
                      </a:pPr>
                      <a:r>
                        <a:t>271 missing years retained as blank; no invented dates</a:t>
                      </a:r>
                    </a:p>
                  </a:txBody>
                  <a:tcPr marL="109728" marR="73152" marT="73152"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A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109728" marR="73152" marT="73152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A"/>
                          </a:solidFill>
                          <a:latin typeface="Aptos"/>
                        </a:defRPr>
                      </a:pPr>
                      <a:r>
                        <a:t>Trimmed and cleaned text</a:t>
                      </a:r>
                    </a:p>
                  </a:txBody>
                  <a:tcPr marL="109728" marR="73152" marT="73152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A"/>
                          </a:solidFill>
                          <a:latin typeface="Aptos"/>
                        </a:defRPr>
                      </a:pPr>
                      <a:r>
                        <a:t>Whitespace and non-printing characters checked/cleaned</a:t>
                      </a:r>
                    </a:p>
                  </a:txBody>
                  <a:tcPr marL="109728" marR="73152" marT="73152"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A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109728" marR="73152" marT="73152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A"/>
                          </a:solidFill>
                          <a:latin typeface="Aptos"/>
                        </a:defRPr>
                      </a:pPr>
                      <a:r>
                        <a:t>Checked duplicate rows</a:t>
                      </a:r>
                    </a:p>
                  </a:txBody>
                  <a:tcPr marL="109728" marR="73152" marT="73152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A"/>
                          </a:solidFill>
                          <a:latin typeface="Aptos"/>
                        </a:defRPr>
                      </a:pPr>
                      <a:r>
                        <a:t>0 exact duplicate rows detected</a:t>
                      </a:r>
                    </a:p>
                  </a:txBody>
                  <a:tcPr marL="109728" marR="73152" marT="73152"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55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A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109728" marR="73152" marT="73152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A"/>
                          </a:solidFill>
                          <a:latin typeface="Aptos"/>
                        </a:defRPr>
                      </a:pPr>
                      <a:r>
                        <a:t>Checked numeric errors</a:t>
                      </a:r>
                    </a:p>
                  </a:txBody>
                  <a:tcPr marL="109728" marR="73152" marT="73152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A"/>
                          </a:solidFill>
                          <a:latin typeface="Aptos"/>
                        </a:defRPr>
                      </a:pPr>
                      <a:r>
                        <a:rPr dirty="0"/>
                        <a:t>Used Keep Errors to inspect columns; correct any remaining conversion errors before loading</a:t>
                      </a:r>
                    </a:p>
                  </a:txBody>
                  <a:tcPr marL="109728" marR="73152" marT="73152"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053328"/>
            <a:ext cx="10881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2AA078"/>
                </a:solidFill>
                <a:latin typeface="Aptos"/>
              </a:defRPr>
            </a:pPr>
            <a:r>
              <a:t>Final profile after cleaning: 16,598 rows • 11 columns • 0 exact duplicate rows • Publisher nulls handled • Year nulls retained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37082"/>
                </a:solidFill>
                <a:latin typeface="Aptos"/>
              </a:defRPr>
            </a:pPr>
            <a:r>
              <a:t>INSIGHTVISTA 2026  •  VIDEO GAME SALES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274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637082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111F36"/>
                </a:solidFill>
                <a:latin typeface="Aptos"/>
              </a:defRPr>
            </a:pPr>
            <a:r>
              <a:t>03  |  Final Cleaned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37082"/>
                </a:solidFill>
                <a:latin typeface="Aptos"/>
              </a:defRPr>
            </a:pPr>
            <a:r>
              <a:t>Solution: use vgsales_cleaned.csv as the Power BI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822960" cy="54864"/>
          </a:xfrm>
          <a:prstGeom prst="rect">
            <a:avLst/>
          </a:prstGeom>
          <a:solidFill>
            <a:srgbClr val="34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377440" cy="1097280"/>
          </a:xfrm>
          <a:prstGeom prst="roundRect">
            <a:avLst/>
          </a:prstGeom>
          <a:solidFill>
            <a:srgbClr val="F8FAFD"/>
          </a:solidFill>
          <a:ln>
            <a:solidFill>
              <a:srgbClr val="377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627631"/>
            <a:ext cx="2048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637082"/>
                </a:solidFill>
                <a:latin typeface="Aptos"/>
              </a:defRPr>
            </a:pPr>
            <a:r>
              <a:t>ROWS RETAINED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47672"/>
            <a:ext cx="2048256" cy="5852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111F36"/>
                </a:solidFill>
                <a:latin typeface="Aptos"/>
              </a:defRPr>
            </a:pPr>
            <a:r>
              <a:t>16,598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508760"/>
            <a:ext cx="2377440" cy="1097280"/>
          </a:xfrm>
          <a:prstGeom prst="roundRect">
            <a:avLst/>
          </a:prstGeom>
          <a:solidFill>
            <a:srgbClr val="F8FAFD"/>
          </a:solidFill>
          <a:ln>
            <a:solidFill>
              <a:srgbClr val="3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02152" y="1627631"/>
            <a:ext cx="2048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637082"/>
                </a:solidFill>
                <a:latin typeface="Aptos"/>
              </a:defRPr>
            </a:pPr>
            <a:r>
              <a:t>COLUMNS RETAINED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1947672"/>
            <a:ext cx="2048256" cy="5852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111F3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508760"/>
            <a:ext cx="2377440" cy="1097280"/>
          </a:xfrm>
          <a:prstGeom prst="roundRect">
            <a:avLst/>
          </a:prstGeom>
          <a:solidFill>
            <a:srgbClr val="F8FAFD"/>
          </a:solidFill>
          <a:ln>
            <a:solidFill>
              <a:srgbClr val="2A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08192" y="1627631"/>
            <a:ext cx="2048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637082"/>
                </a:solidFill>
                <a:latin typeface="Aptos"/>
              </a:defRPr>
            </a:pPr>
            <a:r>
              <a:t>PUBLISHER NULLS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1947672"/>
            <a:ext cx="2048256" cy="5852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111F36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508760"/>
            <a:ext cx="2377440" cy="1097280"/>
          </a:xfrm>
          <a:prstGeom prst="roundRect">
            <a:avLst/>
          </a:prstGeom>
          <a:solidFill>
            <a:srgbClr val="F8FAFD"/>
          </a:solidFill>
          <a:ln>
            <a:solidFill>
              <a:srgbClr val="F09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14232" y="1627631"/>
            <a:ext cx="2048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637082"/>
                </a:solidFill>
                <a:latin typeface="Aptos"/>
              </a:defRPr>
            </a:pPr>
            <a:r>
              <a:t>EXACT DUPLICATES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1947672"/>
            <a:ext cx="2048256" cy="5852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111F36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71800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11F36"/>
                </a:solidFill>
                <a:latin typeface="Aptos"/>
              </a:defRPr>
            </a:pPr>
            <a:r>
              <a:t>Final dataset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429000"/>
            <a:ext cx="5029200" cy="1381917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500">
                <a:solidFill>
                  <a:srgbClr val="202B3A"/>
                </a:solidFill>
                <a:latin typeface="Aptos"/>
              </a:defRPr>
            </a:pPr>
            <a:r>
              <a:rPr dirty="0"/>
              <a:t>  Game details: Name, Platform, Genre, Publisher, Year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500">
                <a:solidFill>
                  <a:srgbClr val="202B3A"/>
                </a:solidFill>
                <a:latin typeface="Aptos"/>
              </a:defRPr>
            </a:pPr>
            <a:r>
              <a:rPr dirty="0"/>
              <a:t>  Ranking: Rank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500">
                <a:solidFill>
                  <a:srgbClr val="202B3A"/>
                </a:solidFill>
                <a:latin typeface="Aptos"/>
              </a:defRPr>
            </a:pPr>
            <a:r>
              <a:rPr dirty="0"/>
              <a:t>  Regional sales: NA, EU, Japan and Other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500">
                <a:solidFill>
                  <a:srgbClr val="202B3A"/>
                </a:solidFill>
                <a:latin typeface="Aptos"/>
              </a:defRPr>
            </a:pPr>
            <a:r>
              <a:rPr lang="en-IN" dirty="0"/>
              <a:t> </a:t>
            </a:r>
            <a:r>
              <a:rPr dirty="0"/>
              <a:t>Overall measure: </a:t>
            </a:r>
            <a:r>
              <a:rPr dirty="0" err="1"/>
              <a:t>Global_Sales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6126480" y="297180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11F36"/>
                </a:solidFill>
                <a:latin typeface="Aptos"/>
              </a:defRPr>
            </a:pPr>
            <a:r>
              <a:t>Why this dataset is ready for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429000"/>
            <a:ext cx="5074920" cy="1381917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500">
                <a:solidFill>
                  <a:srgbClr val="202B3A"/>
                </a:solidFill>
                <a:latin typeface="Aptos"/>
              </a:defRPr>
            </a:pPr>
            <a:r>
              <a:rPr dirty="0"/>
              <a:t>  Numeric sales columns can be aggregated in visuals.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500">
                <a:solidFill>
                  <a:srgbClr val="202B3A"/>
                </a:solidFill>
                <a:latin typeface="Aptos"/>
              </a:defRPr>
            </a:pPr>
            <a:r>
              <a:rPr dirty="0"/>
              <a:t>  Missing Publisher values are clearly labeled Unknown.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500">
                <a:solidFill>
                  <a:srgbClr val="202B3A"/>
                </a:solidFill>
                <a:latin typeface="Aptos"/>
              </a:defRPr>
            </a:pPr>
            <a:r>
              <a:rPr dirty="0"/>
              <a:t>  Missing Year values remain blank to avoid false dates.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500">
                <a:solidFill>
                  <a:srgbClr val="202B3A"/>
                </a:solidFill>
                <a:latin typeface="Aptos"/>
              </a:defRPr>
            </a:pPr>
            <a:r>
              <a:rPr dirty="0"/>
              <a:t>  Use Year slicers/trends with blank years excluded.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0644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377DDC"/>
                </a:solidFill>
                <a:latin typeface="Aptos"/>
              </a:defRPr>
            </a:pPr>
            <a:r>
              <a:t>Power BI: Home → Get Data → Text/CSV → vgsales_cleaned.csv → 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37082"/>
                </a:solidFill>
                <a:latin typeface="Aptos"/>
              </a:defRPr>
            </a:pPr>
            <a:r>
              <a:t>INSIGHTVISTA 2026  •  VIDEO GAME SALES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274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637082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1462B-C411-4522-AE9F-52FEF5E14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57CE38-07DF-A221-CC4A-512B0B87C99E}"/>
              </a:ext>
            </a:extLst>
          </p:cNvPr>
          <p:cNvSpPr txBox="1"/>
          <p:nvPr/>
        </p:nvSpPr>
        <p:spPr>
          <a:xfrm>
            <a:off x="594360" y="217091"/>
            <a:ext cx="109728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111F36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4</a:t>
            </a:r>
            <a:r>
              <a:rPr dirty="0"/>
              <a:t>  | </a:t>
            </a:r>
            <a:r>
              <a:rPr lang="en-IN" dirty="0"/>
              <a:t>Power BI Dashboard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E2B87C-9FDF-E9FB-B9BD-51480FACD3B7}"/>
              </a:ext>
            </a:extLst>
          </p:cNvPr>
          <p:cNvSpPr/>
          <p:nvPr/>
        </p:nvSpPr>
        <p:spPr>
          <a:xfrm>
            <a:off x="621792" y="886239"/>
            <a:ext cx="822960" cy="54864"/>
          </a:xfrm>
          <a:prstGeom prst="rect">
            <a:avLst/>
          </a:prstGeom>
          <a:solidFill>
            <a:srgbClr val="34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7CC8F6-31C5-B9C4-B7EA-E893B22CE190}"/>
              </a:ext>
            </a:extLst>
          </p:cNvPr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37082"/>
                </a:solidFill>
                <a:latin typeface="Aptos"/>
              </a:defRPr>
            </a:pPr>
            <a:r>
              <a:t>INSIGHTVISTA 2026  •  VIDEO GAME SALES ANALYSIS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D29DCB-49C7-1E83-FA18-27B16FD87ABC}"/>
              </a:ext>
            </a:extLst>
          </p:cNvPr>
          <p:cNvSpPr txBox="1"/>
          <p:nvPr/>
        </p:nvSpPr>
        <p:spPr>
          <a:xfrm>
            <a:off x="11292840" y="6473952"/>
            <a:ext cx="274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637082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9C0540C-095F-E157-88A1-98DE13DB4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56813"/>
            <a:ext cx="10972800" cy="555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224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111F36"/>
                </a:solidFill>
                <a:latin typeface="Aptos"/>
              </a:defRPr>
            </a:pPr>
            <a:r>
              <a:t>05  |  Observations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37082"/>
                </a:solidFill>
                <a:latin typeface="Aptos"/>
              </a:defRPr>
            </a:pPr>
            <a:r>
              <a:t>Validate each figure against the Power BI visuals before presenting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822960" cy="54864"/>
          </a:xfrm>
          <a:prstGeom prst="rect">
            <a:avLst/>
          </a:prstGeom>
          <a:solidFill>
            <a:srgbClr val="34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11F36"/>
                </a:solidFill>
                <a:latin typeface="Aptos"/>
              </a:defRPr>
            </a:pPr>
            <a:r>
              <a:t>What to look for in the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5669280" cy="3074688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Top Platform:</a:t>
            </a:r>
            <a:r>
              <a:rPr lang="en-IN" dirty="0"/>
              <a:t> PS2 has the highest total global sales among platforms.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Top Genre:</a:t>
            </a:r>
            <a:r>
              <a:rPr lang="en-IN" dirty="0"/>
              <a:t> Action is the leading genre, followed by Sports and Shooter.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Sales Trend:</a:t>
            </a:r>
            <a:r>
              <a:rPr lang="en-IN" dirty="0"/>
              <a:t> Global sales increased over time, peaked around 2008, and declined afterward.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Genre Contribution:</a:t>
            </a:r>
            <a:r>
              <a:rPr lang="en-IN" dirty="0"/>
              <a:t> Action contributes the largest share of total genre sales.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Platform Distribution:</a:t>
            </a:r>
            <a:r>
              <a:rPr lang="en-IN" dirty="0"/>
              <a:t> PS2, X360, PS3 and Wii are among the leading platforms in the dashboard.</a:t>
            </a:r>
          </a:p>
          <a:p>
            <a:pPr>
              <a:spcAft>
                <a:spcPts val="1000"/>
              </a:spcAft>
              <a:defRPr sz="1500">
                <a:solidFill>
                  <a:srgbClr val="202B3A"/>
                </a:solidFill>
                <a:latin typeface="Aptos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812280" y="1600200"/>
            <a:ext cx="4480560" cy="4297680"/>
          </a:xfrm>
          <a:prstGeom prst="roundRect">
            <a:avLst/>
          </a:prstGeom>
          <a:solidFill>
            <a:srgbClr val="E8F0FA"/>
          </a:solidFill>
          <a:ln>
            <a:solidFill>
              <a:srgbClr val="377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1920240"/>
            <a:ext cx="3840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11F36"/>
                </a:solidFill>
                <a:latin typeface="Aptos"/>
              </a:defRPr>
            </a:pPr>
            <a:r>
              <a:t>Insight statement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468880"/>
            <a:ext cx="3794760" cy="22775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Focus on popular genres such as Action and Sports.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 err="1"/>
              <a:t>Analyze</a:t>
            </a:r>
            <a:r>
              <a:rPr lang="en-IN" dirty="0"/>
              <a:t> the sales decline after the peak year.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Compare regional and platform performance before making investment decisions.</a:t>
            </a:r>
          </a:p>
          <a:p>
            <a:pPr>
              <a:defRPr sz="1600" b="0">
                <a:solidFill>
                  <a:srgbClr val="202B3A"/>
                </a:solidFill>
                <a:latin typeface="Aptos"/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37082"/>
                </a:solidFill>
                <a:latin typeface="Aptos"/>
              </a:defRPr>
            </a:pPr>
            <a:r>
              <a:t>INSIGHTVISTA 2026  •  VIDEO GAME SALES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274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637082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111F36"/>
                </a:solidFill>
                <a:latin typeface="Aptos"/>
              </a:defRPr>
            </a:pPr>
            <a:r>
              <a:rPr dirty="0"/>
              <a:t>06  | 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37082"/>
                </a:solidFill>
                <a:latin typeface="Aptos"/>
              </a:defRPr>
            </a:pPr>
            <a:r>
              <a:t>Actions should follow evidence from the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822960" cy="54864"/>
          </a:xfrm>
          <a:prstGeom prst="rect">
            <a:avLst/>
          </a:prstGeom>
          <a:solidFill>
            <a:srgbClr val="34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1481328"/>
            <a:ext cx="475488" cy="475488"/>
          </a:xfrm>
          <a:prstGeom prst="ellipse">
            <a:avLst/>
          </a:prstGeom>
          <a:solidFill>
            <a:srgbClr val="37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554480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8FAF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63040"/>
            <a:ext cx="2606040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111F36"/>
                </a:solidFill>
                <a:latin typeface="Aptos"/>
              </a:defRPr>
            </a:pPr>
            <a:r>
              <a:rPr lang="en-IN" sz="1500" b="1" dirty="0">
                <a:solidFill>
                  <a:srgbClr val="111F36"/>
                </a:solidFill>
                <a:latin typeface="Aptos"/>
              </a:rPr>
              <a:t>Focus on Top-Selling Genres</a:t>
            </a:r>
          </a:p>
          <a:p>
            <a:pPr>
              <a:defRPr sz="1500" b="1">
                <a:solidFill>
                  <a:srgbClr val="111F36"/>
                </a:solidFill>
                <a:latin typeface="Aptos"/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023360" y="1463040"/>
            <a:ext cx="713232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02B3A"/>
                </a:solidFill>
                <a:latin typeface="Aptos"/>
              </a:defRPr>
            </a:pPr>
            <a:r>
              <a:rPr lang="en-IN" sz="1200" dirty="0">
                <a:solidFill>
                  <a:srgbClr val="202B3A"/>
                </a:solidFill>
                <a:latin typeface="Aptos"/>
              </a:rPr>
              <a:t>Prioritize Action, Sports, and Shooter games, as they contribute the highest global sales.</a:t>
            </a:r>
          </a:p>
          <a:p>
            <a:pPr>
              <a:defRPr sz="1200" b="0">
                <a:solidFill>
                  <a:srgbClr val="202B3A"/>
                </a:solidFill>
                <a:latin typeface="Aptos"/>
              </a:defRPr>
            </a:pPr>
            <a:endParaRPr dirty="0"/>
          </a:p>
        </p:txBody>
      </p:sp>
      <p:sp>
        <p:nvSpPr>
          <p:cNvPr id="9" name="Oval 8"/>
          <p:cNvSpPr/>
          <p:nvPr/>
        </p:nvSpPr>
        <p:spPr>
          <a:xfrm>
            <a:off x="777240" y="2340864"/>
            <a:ext cx="475488" cy="475488"/>
          </a:xfrm>
          <a:prstGeom prst="ellipse">
            <a:avLst/>
          </a:prstGeom>
          <a:solidFill>
            <a:srgbClr val="37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2414016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8FAF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322576"/>
            <a:ext cx="274320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111F36"/>
                </a:solidFill>
                <a:latin typeface="Aptos"/>
              </a:defRPr>
            </a:pPr>
            <a:r>
              <a:rPr lang="en-IN" sz="1500" b="1" dirty="0">
                <a:solidFill>
                  <a:srgbClr val="111F36"/>
                </a:solidFill>
                <a:latin typeface="Aptos"/>
              </a:rPr>
              <a:t>Target High-Performing Platforms</a:t>
            </a:r>
            <a:br>
              <a:rPr lang="en-IN" sz="1500" b="1" dirty="0">
                <a:solidFill>
                  <a:srgbClr val="111F36"/>
                </a:solidFill>
                <a:latin typeface="Aptos"/>
              </a:rPr>
            </a:br>
            <a:endParaRPr lang="en-IN" sz="1500" b="1" dirty="0">
              <a:solidFill>
                <a:srgbClr val="111F36"/>
              </a:solidFill>
              <a:latin typeface="Aptos"/>
            </a:endParaRPr>
          </a:p>
          <a:p>
            <a:pPr>
              <a:defRPr sz="1500" b="1">
                <a:solidFill>
                  <a:srgbClr val="111F36"/>
                </a:solidFill>
                <a:latin typeface="Aptos"/>
              </a:defRPr>
            </a:pP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023360" y="2322576"/>
            <a:ext cx="713232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02B3A"/>
                </a:solidFill>
                <a:latin typeface="Aptos"/>
              </a:defRPr>
            </a:pPr>
            <a:r>
              <a:rPr lang="en-IN" sz="1200" dirty="0">
                <a:solidFill>
                  <a:srgbClr val="202B3A"/>
                </a:solidFill>
                <a:latin typeface="Aptos"/>
              </a:rPr>
              <a:t>Focus on PS2, X360, and PS3, which show strong global sales compared with other platforms.</a:t>
            </a:r>
          </a:p>
          <a:p>
            <a:pPr>
              <a:defRPr sz="1200" b="0">
                <a:solidFill>
                  <a:srgbClr val="202B3A"/>
                </a:solidFill>
                <a:latin typeface="Aptos"/>
              </a:defRPr>
            </a:pPr>
            <a:endParaRPr dirty="0"/>
          </a:p>
        </p:txBody>
      </p:sp>
      <p:sp>
        <p:nvSpPr>
          <p:cNvPr id="13" name="Oval 12"/>
          <p:cNvSpPr/>
          <p:nvPr/>
        </p:nvSpPr>
        <p:spPr>
          <a:xfrm>
            <a:off x="777240" y="3200400"/>
            <a:ext cx="475488" cy="475488"/>
          </a:xfrm>
          <a:prstGeom prst="ellipse">
            <a:avLst/>
          </a:prstGeom>
          <a:solidFill>
            <a:srgbClr val="37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3273552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8FAF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82112"/>
            <a:ext cx="2743200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111F36"/>
                </a:solidFill>
                <a:latin typeface="Aptos"/>
              </a:defRPr>
            </a:pPr>
            <a:r>
              <a:rPr lang="en-IN" sz="1500" b="1" dirty="0">
                <a:solidFill>
                  <a:srgbClr val="111F36"/>
                </a:solidFill>
                <a:latin typeface="Aptos"/>
              </a:rPr>
              <a:t>Understand Sales Trends</a:t>
            </a:r>
          </a:p>
          <a:p>
            <a:pPr>
              <a:defRPr sz="1500" b="1">
                <a:solidFill>
                  <a:srgbClr val="111F36"/>
                </a:solidFill>
                <a:latin typeface="Aptos"/>
              </a:defRPr>
            </a:pP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023360" y="3182112"/>
            <a:ext cx="713232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02B3A"/>
                </a:solidFill>
                <a:latin typeface="Aptos"/>
              </a:defRPr>
            </a:pPr>
            <a:r>
              <a:rPr lang="en-IN" sz="1200" dirty="0">
                <a:solidFill>
                  <a:srgbClr val="202B3A"/>
                </a:solidFill>
                <a:latin typeface="Aptos"/>
              </a:rPr>
              <a:t>Investigate the sales peak around 2008 and the decline in later years to identify changing market demand.</a:t>
            </a:r>
          </a:p>
          <a:p>
            <a:pPr>
              <a:defRPr sz="1200" b="0">
                <a:solidFill>
                  <a:srgbClr val="202B3A"/>
                </a:solidFill>
                <a:latin typeface="Aptos"/>
              </a:defRPr>
            </a:pPr>
            <a:endParaRPr dirty="0"/>
          </a:p>
        </p:txBody>
      </p:sp>
      <p:sp>
        <p:nvSpPr>
          <p:cNvPr id="17" name="Oval 16"/>
          <p:cNvSpPr/>
          <p:nvPr/>
        </p:nvSpPr>
        <p:spPr>
          <a:xfrm>
            <a:off x="777240" y="4059935"/>
            <a:ext cx="475488" cy="475488"/>
          </a:xfrm>
          <a:prstGeom prst="ellipse">
            <a:avLst/>
          </a:prstGeom>
          <a:solidFill>
            <a:srgbClr val="34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4133087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8FAF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041648"/>
            <a:ext cx="2743200" cy="7848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111F36"/>
                </a:solidFill>
                <a:latin typeface="Aptos"/>
              </a:defRPr>
            </a:pPr>
            <a:r>
              <a:rPr lang="en-IN" sz="1500" b="1" dirty="0">
                <a:solidFill>
                  <a:srgbClr val="111F36"/>
                </a:solidFill>
                <a:latin typeface="Aptos"/>
              </a:rPr>
              <a:t>Strengthen Regional Strategies</a:t>
            </a:r>
          </a:p>
          <a:p>
            <a:pPr>
              <a:defRPr sz="1500" b="1">
                <a:solidFill>
                  <a:srgbClr val="111F36"/>
                </a:solidFill>
                <a:latin typeface="Aptos"/>
              </a:defRPr>
            </a:pP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4023360" y="4041648"/>
            <a:ext cx="713232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02B3A"/>
                </a:solidFill>
                <a:latin typeface="Aptos"/>
              </a:defRPr>
            </a:pPr>
            <a:r>
              <a:rPr lang="en-IN" sz="1200" dirty="0">
                <a:solidFill>
                  <a:srgbClr val="202B3A"/>
                </a:solidFill>
                <a:latin typeface="Aptos"/>
              </a:rPr>
              <a:t>Compare North America, Europe, Japan, and Other regions to develop targeted marketing and publishing strategies.</a:t>
            </a:r>
          </a:p>
          <a:p>
            <a:pPr>
              <a:defRPr sz="1200" b="0">
                <a:solidFill>
                  <a:srgbClr val="202B3A"/>
                </a:solidFill>
                <a:latin typeface="Aptos"/>
              </a:defRPr>
            </a:pPr>
            <a:endParaRPr dirty="0"/>
          </a:p>
        </p:txBody>
      </p:sp>
      <p:sp>
        <p:nvSpPr>
          <p:cNvPr id="21" name="Oval 20"/>
          <p:cNvSpPr/>
          <p:nvPr/>
        </p:nvSpPr>
        <p:spPr>
          <a:xfrm>
            <a:off x="777240" y="4919472"/>
            <a:ext cx="475488" cy="475488"/>
          </a:xfrm>
          <a:prstGeom prst="ellipse">
            <a:avLst/>
          </a:prstGeom>
          <a:solidFill>
            <a:srgbClr val="34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" y="4992624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8FAF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901184"/>
            <a:ext cx="2743200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111F36"/>
                </a:solidFill>
                <a:latin typeface="Aptos"/>
              </a:defRPr>
            </a:pPr>
            <a:r>
              <a:rPr lang="en-IN" sz="1500" b="1" dirty="0">
                <a:solidFill>
                  <a:srgbClr val="111F36"/>
                </a:solidFill>
                <a:latin typeface="Aptos"/>
              </a:rPr>
              <a:t>Improve Future Sales Analysis</a:t>
            </a:r>
          </a:p>
          <a:p>
            <a:pPr>
              <a:defRPr sz="1500" b="1">
                <a:solidFill>
                  <a:srgbClr val="111F36"/>
                </a:solidFill>
                <a:latin typeface="Aptos"/>
              </a:defRPr>
            </a:pP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4023360" y="4901184"/>
            <a:ext cx="713232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02B3A"/>
                </a:solidFill>
                <a:latin typeface="Aptos"/>
              </a:defRPr>
            </a:pPr>
            <a:r>
              <a:rPr lang="en-IN" sz="1200" dirty="0">
                <a:solidFill>
                  <a:srgbClr val="202B3A"/>
                </a:solidFill>
                <a:latin typeface="Aptos"/>
              </a:rPr>
              <a:t>Combine sales data with pricing, marketing costs, and profit margins to identify the most profitable games and platforms.</a:t>
            </a:r>
          </a:p>
          <a:p>
            <a:pPr>
              <a:defRPr sz="1200" b="0">
                <a:solidFill>
                  <a:srgbClr val="202B3A"/>
                </a:solidFill>
                <a:latin typeface="Aptos"/>
              </a:defRPr>
            </a:pPr>
            <a:endParaRPr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95528" y="5854058"/>
            <a:ext cx="10241280" cy="7848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377DDC"/>
                </a:solidFill>
                <a:latin typeface="Aptos"/>
              </a:defRPr>
            </a:pPr>
            <a:r>
              <a:rPr lang="en-IN" sz="1500" b="1" dirty="0">
                <a:solidFill>
                  <a:srgbClr val="377DDC"/>
                </a:solidFill>
                <a:latin typeface="Aptos"/>
              </a:rPr>
              <a:t>Closing message: Data-driven decisions help identify market opportunities and improve future business performance.</a:t>
            </a:r>
          </a:p>
          <a:p>
            <a:pPr algn="ctr">
              <a:defRPr sz="1500" b="1">
                <a:solidFill>
                  <a:srgbClr val="377DDC"/>
                </a:solidFill>
                <a:latin typeface="Aptos"/>
              </a:defRPr>
            </a:pP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37082"/>
                </a:solidFill>
                <a:latin typeface="Aptos"/>
              </a:defRPr>
            </a:pPr>
            <a:r>
              <a:rPr dirty="0"/>
              <a:t>INSIGHTVISTA 2026  •  VIDEO GAME SALES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274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637082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AA65C67-A8E4-10C7-2919-2419C236DFB8}"/>
              </a:ext>
            </a:extLst>
          </p:cNvPr>
          <p:cNvSpPr txBox="1"/>
          <p:nvPr/>
        </p:nvSpPr>
        <p:spPr>
          <a:xfrm>
            <a:off x="299258" y="3732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B3335C-DD83-98CD-A36F-909778EF905C}"/>
              </a:ext>
            </a:extLst>
          </p:cNvPr>
          <p:cNvSpPr txBox="1"/>
          <p:nvPr/>
        </p:nvSpPr>
        <p:spPr>
          <a:xfrm>
            <a:off x="1161535" y="2477193"/>
            <a:ext cx="96101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b="1" dirty="0">
                <a:solidFill>
                  <a:srgbClr val="F5F7FA"/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66562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728</Words>
  <Application>Microsoft Office PowerPoint</Application>
  <PresentationFormat>Widescreen</PresentationFormat>
  <Paragraphs>121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Algerian</vt:lpstr>
      <vt:lpstr>Aptos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Priyanka Gediya</cp:lastModifiedBy>
  <cp:revision>3</cp:revision>
  <dcterms:created xsi:type="dcterms:W3CDTF">2013-01-27T09:14:16Z</dcterms:created>
  <dcterms:modified xsi:type="dcterms:W3CDTF">2026-10-12T09:39:58Z</dcterms:modified>
  <cp:category/>
</cp:coreProperties>
</file>